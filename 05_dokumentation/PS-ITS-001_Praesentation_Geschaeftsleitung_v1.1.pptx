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Anteil Flugbewegungen</c:v>
                </c:pt>
              </c:strCache>
            </c:strRef>
          </c:tx>
          <c:dPt>
            <c:idx val="0"/>
            <c:spPr>
              <a:solidFill>
                <a:srgbClr val="1E2761"/>
              </a:solidFill>
            </c:spPr>
          </c:dPt>
          <c:dPt>
            <c:idx val="1"/>
            <c:spPr>
              <a:solidFill>
                <a:srgbClr val="3A4680"/>
              </a:solidFill>
            </c:spPr>
          </c:dPt>
          <c:dPt>
            <c:idx val="2"/>
            <c:spPr>
              <a:solidFill>
                <a:srgbClr val="CADCFC"/>
              </a:solidFill>
            </c:spPr>
          </c:dPt>
          <c:cat>
            <c:strRef>
              <c:f>Sheet1!$A$2:$A$4</c:f>
              <c:strCache>
                <c:ptCount val="3"/>
                <c:pt idx="0">
                  <c:v>Tag</c:v>
                </c:pt>
                <c:pt idx="1">
                  <c:v>Dämmerung</c:v>
                </c:pt>
                <c:pt idx="2">
                  <c:v>Nacht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0.899</c:v>
                </c:pt>
                <c:pt idx="1">
                  <c:v>0.029</c:v>
                </c:pt>
                <c:pt idx="2">
                  <c:v>0.072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200"/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12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Werte</c:v>
                </c:pt>
              </c:strCache>
            </c:strRef>
          </c:tx>
          <c:spPr>
            <a:solidFill>
              <a:srgbClr val="1E2761"/>
            </a:solidFill>
          </c:spPr>
          <c:dLbls>
            <c:txPr>
              <a:bodyPr/>
              <a:lstStyle/>
              <a:p>
                <a:pPr>
                  <a:defRPr sz="1200"/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Gewicht &lt; 20 kg</c:v>
                </c:pt>
                <c:pt idx="1">
                  <c:v>Stock nicht auf Waage</c:v>
                </c:pt>
                <c:pt idx="2">
                  <c:v>Feuchte −100 %</c:v>
                </c:pt>
                <c:pt idx="3">
                  <c:v>Frost (gültig)</c:v>
                </c:pt>
                <c:pt idx="4">
                  <c:v>fehlende Werte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102</c:v>
                </c:pt>
                <c:pt idx="1">
                  <c:v>130</c:v>
                </c:pt>
                <c:pt idx="2">
                  <c:v>31</c:v>
                </c:pt>
                <c:pt idx="3">
                  <c:v>4033</c:v>
                </c:pt>
                <c:pt idx="4">
                  <c:v>2056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stacked"/>
        <c:ser>
          <c:idx val="0"/>
          <c:order val="0"/>
          <c:tx>
            <c:strRef>
              <c:f>Sheet1!$B$1</c:f>
              <c:strCache>
                <c:ptCount val="1"/>
                <c:pt idx="0">
                  <c:v>Rohdaten → Bronze</c:v>
                </c:pt>
              </c:strCache>
            </c:strRef>
          </c:tx>
          <c:spPr>
            <a:solidFill>
              <a:srgbClr val="CADCFC"/>
            </a:solidFill>
          </c:spPr>
          <c:cat>
            <c:strRef>
              <c:f>Sheet1!$A$2:$A$2</c:f>
              <c:strCache>
                <c:ptCount val="1"/>
                <c:pt idx="0">
                  <c:v>Gesamtlauf 2 Städte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0.4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Bronze → Silver</c:v>
                </c:pt>
              </c:strCache>
            </c:strRef>
          </c:tx>
          <c:spPr>
            <a:solidFill>
              <a:srgbClr val="1E2761"/>
            </a:solidFill>
          </c:spPr>
          <c:dLbls>
            <c:numFmt formatCode="0.0&quot; Min.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Gesamtlauf 2 Städte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8.2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Silver → Gold</c:v>
                </c:pt>
              </c:strCache>
            </c:strRef>
          </c:tx>
          <c:spPr>
            <a:solidFill>
              <a:srgbClr val="3A4680"/>
            </a:solidFill>
          </c:spPr>
          <c:dLbls>
            <c:numFmt formatCode="0.0&quot; Min.&quot;" sourceLinked="0"/>
            <c:txPr>
              <a:bodyPr/>
              <a:lstStyle/>
              <a:p>
                <a:pPr>
                  <a:defRPr sz="1400" b="1">
                    <a:solidFill>
                      <a:srgbClr val="FFFFFF"/>
                    </a:solidFill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Sheet1!$A$2:$A$2</c:f>
              <c:strCache>
                <c:ptCount val="1"/>
                <c:pt idx="0">
                  <c:v>Gesamtlauf 2 Städte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3.7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Archivieren</c:v>
                </c:pt>
              </c:strCache>
            </c:strRef>
          </c:tx>
          <c:spPr>
            <a:solidFill>
              <a:srgbClr val="5A6472"/>
            </a:solidFill>
          </c:spPr>
          <c:cat>
            <c:strRef>
              <c:f>Sheet1!$A$2:$A$2</c:f>
              <c:strCache>
                <c:ptCount val="1"/>
                <c:pt idx="0">
                  <c:v>Gesamtlauf 2 Städte</c:v>
                </c:pt>
              </c:strCache>
            </c:strRef>
          </c:cat>
          <c:val>
            <c:numRef>
              <c:f>Sheet1!$E$2:$E$2</c:f>
              <c:numCache>
                <c:formatCode>General</c:formatCode>
                <c:ptCount val="1"/>
                <c:pt idx="0">
                  <c:v>0.9</c:v>
                </c:pt>
              </c:numCache>
            </c:numRef>
          </c:val>
        </c:ser>
        <c:gapWidth val="40"/>
        <c:overlap val="100"/>
        <c:axId val="-2068027336"/>
        <c:axId val="-2113994440"/>
      </c:barChart>
      <c:catAx>
        <c:axId val="-2068027336"/>
        <c:scaling>
          <c:orientation val="minMax"/>
        </c:scaling>
        <c:delete/>
        <c:axPos val="l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4.0"/>
          <c:min val="0.0"/>
        </c:scaling>
        <c:delete val="0"/>
        <c:axPos val="b"/>
        <c:numFmt formatCode="0&quot; Min.&quot;" sourceLinked="0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068027336"/>
        <c:crosses val="autoZero"/>
        <c:majorUnit val="2.0"/>
      </c:valAx>
    </c:plotArea>
    <c:legend>
      <c:legendPos val="b"/>
      <c:overlay val="0"/>
      <c:txPr>
        <a:bodyPr/>
        <a:lstStyle/>
        <a:p>
          <a:pPr>
            <a:defRPr sz="13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Bad Schwartau</c:v>
                </c:pt>
              </c:strCache>
            </c:strRef>
          </c:tx>
          <c:spPr>
            <a:solidFill>
              <a:srgbClr val="1E2761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kein Regen</c:v>
                </c:pt>
                <c:pt idx="1">
                  <c:v>Regen</c:v>
                </c:pt>
                <c:pt idx="2">
                  <c:v>keine Sonne</c:v>
                </c:pt>
                <c:pt idx="3">
                  <c:v>Sonne bis 30 Min.</c:v>
                </c:pt>
                <c:pt idx="4">
                  <c:v>Sonne 31–60 Min.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84</c:v>
                </c:pt>
                <c:pt idx="1">
                  <c:v>36</c:v>
                </c:pt>
                <c:pt idx="2">
                  <c:v>38</c:v>
                </c:pt>
                <c:pt idx="3">
                  <c:v>86</c:v>
                </c:pt>
                <c:pt idx="4">
                  <c:v>125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Würzburg</c:v>
                </c:pt>
              </c:strCache>
            </c:strRef>
          </c:tx>
          <c:spPr>
            <a:solidFill>
              <a:srgbClr val="CADCFC"/>
            </a:solidFill>
          </c:spPr>
          <c:dLbls>
            <c:numFmt formatCode="0" sourceLinked="0"/>
            <c:txPr>
              <a:bodyPr/>
              <a:lstStyle/>
              <a:p>
                <a:pPr>
                  <a:defRPr sz="11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kein Regen</c:v>
                </c:pt>
                <c:pt idx="1">
                  <c:v>Regen</c:v>
                </c:pt>
                <c:pt idx="2">
                  <c:v>keine Sonne</c:v>
                </c:pt>
                <c:pt idx="3">
                  <c:v>Sonne bis 30 Min.</c:v>
                </c:pt>
                <c:pt idx="4">
                  <c:v>Sonne 31–60 Min.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36.5</c:v>
                </c:pt>
                <c:pt idx="1">
                  <c:v>11.4</c:v>
                </c:pt>
                <c:pt idx="2">
                  <c:v>11.4</c:v>
                </c:pt>
                <c:pt idx="3">
                  <c:v>34.2</c:v>
                </c:pt>
                <c:pt idx="4">
                  <c:v>60.8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2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CSV (MB)</c:v>
                </c:pt>
              </c:strCache>
            </c:strRef>
          </c:tx>
          <c:spPr>
            <a:solidFill>
              <a:srgbClr val="CADCFC"/>
            </a:solidFill>
          </c:spPr>
          <c:dLbls>
            <c:numFmt formatCode="0.0&quot; MB&quot;" sourceLinked="0"/>
            <c:txPr>
              <a:bodyPr/>
              <a:lstStyle/>
              <a:p>
                <a:pPr>
                  <a:defRPr sz="12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Flugdaten</c:v>
                </c:pt>
                <c:pt idx="1">
                  <c:v>Wetterdaten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83.2</c:v>
                </c:pt>
                <c:pt idx="1">
                  <c:v>3.6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Parquet (MB)</c:v>
                </c:pt>
              </c:strCache>
            </c:strRef>
          </c:tx>
          <c:spPr>
            <a:solidFill>
              <a:srgbClr val="1E2761"/>
            </a:solidFill>
          </c:spPr>
          <c:dLbls>
            <c:numFmt formatCode="0.0&quot; MB&quot;" sourceLinked="0"/>
            <c:txPr>
              <a:bodyPr/>
              <a:lstStyle/>
              <a:p>
                <a:pPr>
                  <a:defRPr sz="1200"/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Sheet1!$A$2:$A$3</c:f>
              <c:strCache>
                <c:ptCount val="2"/>
                <c:pt idx="0">
                  <c:v>Flugdaten</c:v>
                </c:pt>
                <c:pt idx="1">
                  <c:v>Wetterdaten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15.0</c:v>
                </c:pt>
                <c:pt idx="1">
                  <c:v>0.47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2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Projekt: Sensoren in Bienenstöcken messen Gewicht, Flug und Klima. Ziel war eine Cloud-Plattform, die diese Daten jede Nacht automatisch prüft und zu Kennzahlen für Fachbereich und Geschäftsleitung verdichtet. Ablauf der Präsentation: Anforderungen, Vorgehen, Datenqualität, drei Befunde, am Schluss Ergebnis, Handlungsempfehlungen und weitere Schritte.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Ohne Pipeline müsste jede Auswertung von Hand vorbereitet werden – fehleranfällig und nicht wiederholbar. Die Pipeline wendet jede Nacht dieselben Regeln an. Rollen: IT-Administration stellt bereit, Data Engineer baut, Data Analyst liefert die Fachregeln, der Fachbereich nimmt ab (Prozessmodell BPMN-ITS-002).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Kennzahlen leiten sich aus den Fragen der Beteiligten ab – nicht aus den verfügbaren Daten.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Der Stocksensor misst innen, für das Flugverhalten zählt das Wetter draußen. Bright Sky wurde gewählt, weil es amtliche DWD-Messwerte liefert und die Station je Wert nachvollziehbar ist (Alternativen: Open-Meteo, DWD direkt). Quellenangabe: Datenbasis Deutscher Wetterdienst. Die Vorhersage-Funktion wurde getestet (+2 Tage) und als Idee in das Projekt Dienstplanung übernommen.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Frost ist echt und bleibt erhalten; nur physikalisch unmögliche Werte werden ungültig. Würzburg nutzt dieselben Regeln mit eigenen Grenzen.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Hochrechnung: gemessene Kosten eines Tageslaufs mit zwei Standorten (ca. 0,50 €, Spark-Sitzungen) × 30 Tage ≈ 15 € je Monat bei täglicher Vollberechnung. Mit inkrementeller Verarbeitung (nur neue Tage) deutlich weniger – Folgeprojekt FP-1.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Saisonertrag = Nettozunahme in der Tracht plus Ernte nach dem Höchststand (Untergrenze). Würzburg ist ein kleineres Volk (weniger Gewicht, weniger Verbrauch). Ernten sind aus der Waage abgeleitet, nicht protokolliert.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Würzburg: −69 % bei Regen. Volle Sonne bringt 3- bis 5-mal so viel Flug. Korrelation ist keine Ursache – dafür Folgeprojekt Machine Learning (FP-3).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Quelle: Pflichtenheft Kap. 3–4 und Standortvergleich (Notebook 06, Würzburg-Fassungen). Temperatur, Feuchte, Strahlung, Wind wurden ausführlich für Schwartau ausgewertet; Würzburg zeigt bei Regen, Sonne und Temperatur dieselbe Richtung (Flug ↔ Außentemperatur r = 0,70).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Parquet speichert spaltenweise und komprimiert: 13–18 % der CSV-Größe. Empfehlung: Silver und Gold in Azure als Parquet, nach Zeit sortiert. Sortieren nach Messwert macht Parquet nicht kleiner (+2–3 %).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Zwei Entscheidungen erbeten: Pilot mit einer weiteren Datenquelle und Start Folgeprojekt FP-1.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HE-2 bis HE-6 greifen die Vertiefungen der Kurszusammenfassung Kap. 9 (8.23) auf. HE-1 und HE-2 sind heute zu entscheiden.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Folgeprojekte gehen an die zuständigen Abteilungen und in die Gesamtprojektplanung.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Das Repository wird nach Abschluss öffentlich auf GitHub bereitgestellt; die README verlinkt alle Unterlagen und Grafiken.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Jede Grafik hat einen Titel mit der Aussage; Erklärungen im Pflichtenheft Kap. 8 (Grafikverzeichnis).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Die Einrichtung ist in Ebenen modelliert: Ebene 2 Übersicht, Ebene 3 je Phase, dazu RACI und Berechtigungsmatrix (Ordner 07_prozesse_QM).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CADCFC"/>
                </a:solidFill>
                <a:latin typeface="Calibri"/>
              </a:rPr>
              <a:t>PROJEKTVORSTELLUNG · AZURE-DATENPLATTFORM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Bee Haven: Bienendaten täglich automatisch auswerten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6424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p2_pipeline_endsta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6924" y="1508760"/>
            <a:ext cx="6367671" cy="32461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48640" y="50292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273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51206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Ziel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Kennzahlen für Imkerei und Leitung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50292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273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51206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2 Standorte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6692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Bad Schwartau, Würzburg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50292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273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51206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4 Stufen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56692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Rohdaten bis Kennzahl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5029200"/>
            <a:ext cx="2606040" cy="1097280"/>
          </a:xfrm>
          <a:prstGeom prst="roundRect">
            <a:avLst>
              <a:gd name="adj" fmla="val 8000"/>
            </a:avLst>
          </a:prstGeom>
          <a:solidFill>
            <a:srgbClr val="2734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5120640"/>
            <a:ext cx="2286000" cy="5486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Cambria"/>
              </a:rPr>
              <a:t>2017–2019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35440" y="5669280"/>
            <a:ext cx="22860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Messzeitraum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355080"/>
            <a:ext cx="109728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CADCFC"/>
                </a:solidFill>
                <a:latin typeface="Calibri"/>
              </a:rPr>
              <a:t>Präsentation für die Geschäftsleitung · 05.10.2026 · erstellt mit KI-Unterstützung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VORGEHEN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Sinn der Pipeline: automatisch statt von Hand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Nichts wird von Hand bereinigt – feste Regeln laufen in vier Stufen, jede startet nur nach Erfolg der vorherigen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1  Rohdaten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Sensordateien kommen an (Gewicht, Flug, Klima, Wetter)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35808" y="237744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A46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20440" y="1874519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2  Bronze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unverändert ablegen – Original bleibt erhalten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70448" y="237744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A4680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874519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1E2761"/>
                </a:solidFill>
                <a:latin typeface="Calibri"/>
              </a:rPr>
              <a:t>3  Silver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automatisch prüfen: Fehler markieren, nichts löschen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05088" y="2377440"/>
            <a:ext cx="365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2400" b="1">
                <a:solidFill>
                  <a:srgbClr val="3A4680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52560" y="1783080"/>
            <a:ext cx="2514600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89720" y="1874519"/>
            <a:ext cx="2240280" cy="1600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4  Gold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CADCFC"/>
                </a:solidFill>
                <a:latin typeface="Calibri"/>
              </a:rPr>
              <a:t>Kennzahlen je Standort für Auswertung und Dashboard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749039"/>
            <a:ext cx="1106424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SO WURDE VORGEGANGEN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41148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206240"/>
            <a:ext cx="32918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Phase 1 · Plattform einrichten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Azure-Speicher, Data Factory und Synapse anlegen; Rechte und Budget freigeben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79" y="41148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4206240"/>
            <a:ext cx="32918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Phase 2 · Regeln entwickeln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Daten untersuchen, Prüfregeln und Kennzahlen in Notebooks festlegen und gegenprüfen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19" y="4114800"/>
            <a:ext cx="3566160" cy="146304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83879" y="4206240"/>
            <a:ext cx="3291840" cy="1325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Phase 3 · Automatisieren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222222"/>
                </a:solidFill>
                <a:latin typeface="Calibri"/>
              </a:rPr>
              <a:t>Pipelines verbinden, täglicher Zeitplan, E-Mail bei Fehlern; zweiter Standort als Test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715000"/>
            <a:ext cx="11064240" cy="5486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806440"/>
            <a:ext cx="10698480" cy="36575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Nutzen: gleiche Regeln bei jedem Lauf, keine Handarbeit, nachvollziehbar – Abläufe und Rollen als BPMN-Prozesse dokumentiert (Anhang C)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ANFORDERUNGSANALYSE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Fragen der Beteiligten und daraus abgeleitete Kennzahlen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846320"/>
                <a:gridCol w="3840480"/>
              </a:tblGrid>
              <a:tr h="86868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Beteiligte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Kernfrage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Kennzahlen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Geschäftsleitung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Lohnt sich eine automatische Datenplattform – was kostet sie, was bringt sie?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Laufzeit, Kosten je Lauf, Aufwand für neue Datenquellen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Fachbereich (Imkerei)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Wie geht es den Völkern, wie viel Honig bringt ein Standort?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Gewicht, Flugbewegungen, Saisonertrag, Wettereinfluss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IT-Betrieb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Läuft die Verarbeitung jede Nacht zuverlässig, und merken wir Fehler?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Laufstatus, Fehler-E-Mails, Gegenprobe Azure = lokal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Finanzen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Bleiben wir im Budget?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Kosten je Lauf, Hochrechnung je Monat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DATENQUELLE WETTER-API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Wetterdaten kommen automatisch über eine Schnittstelle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Bright Sky (frei) liefert Messwerte des Deutschen Wetterdienstes je Stunde – Abruf eines Zeitraums pro Lauf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8308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56231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API-Abruf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Zeitraum aus den Sensordaten, Ort aus der Standorttabelle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88036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953512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Bronze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Rohantwort unverändert archiviert – Wiederholung ohne neuen Abruf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39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050791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E2761"/>
                </a:solidFill>
                <a:latin typeface="Calibri"/>
              </a:rPr>
              <a:t>Silver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5A6472"/>
                </a:solidFill>
                <a:latin typeface="Calibri"/>
              </a:rPr>
              <a:t>Station je Messgröße geprüft, Sonnenstand berechnet (Tag, Dämmerung, Nacht)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74920"/>
            <a:ext cx="5120640" cy="960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5148072"/>
            <a:ext cx="4846320" cy="8686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Ergebnis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CADCFC"/>
                </a:solidFill>
                <a:latin typeface="Calibri"/>
              </a:rPr>
              <a:t>21.145 Stundenwerte Schwartau, 20.881 Würzburg</a:t>
            </a:r>
          </a:p>
        </p:txBody>
      </p:sp>
      <p:graphicFrame>
        <p:nvGraphicFramePr>
          <p:cNvPr id="16" name="Chart 15"/>
          <p:cNvGraphicFramePr>
            <a:graphicFrameLocks noGrp="1"/>
          </p:cNvGraphicFramePr>
          <p:nvPr/>
        </p:nvGraphicFramePr>
        <p:xfrm>
          <a:off x="5943600" y="1691640"/>
          <a:ext cx="3108960" cy="40233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943600" y="5760720"/>
            <a:ext cx="31089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Flugbewegungen nach Sonnenstand (Schwartau)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73736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0" y="1874519"/>
            <a:ext cx="219456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Flug bei Tag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2240280"/>
            <a:ext cx="219456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90 %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063239"/>
            <a:ext cx="219456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Sonnenstand statt Uhrzeit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235440" y="4114800"/>
            <a:ext cx="2377440" cy="2103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19" y="4206240"/>
            <a:ext cx="2011680" cy="19202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Dieselbe API liefert auch Vorhersagen – nutzbar z. B. für Dienstplanung.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DATENQUALITÄT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Datenqualität: Fehler werden markiert, nicht gelöscht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Automatisch in der Silver-Stufe · Schwartau 2017–2019 · Regeln aus der Konfiguration je Standort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5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73736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gelöschte Zeilen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4028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63239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alles nachvollziehbar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148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206240"/>
            <a:ext cx="3017520" cy="19202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Markieren statt löschen: Jede Entscheidung bleibt nachvollziehbar, Regeln lassen sich ohne neue Rohdaten ändern.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KERNBEFUND 1 · PLATTFORM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Ein zweiter Standort kam ohne eine Zeile neuen Code hinzu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Gesamtlauf beider Städte am 02.10.2026 · Gegenprobe Azure = lokale Berechnung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6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2011680"/>
          <a:ext cx="7315200" cy="29260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48640" y="5120640"/>
            <a:ext cx="7315200" cy="10058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A6472"/>
                </a:solidFill>
                <a:latin typeface="Calibri"/>
              </a:rPr>
              <a:t>Die Bereinigung (Bronze → Silver) braucht fast zwei Drittel der Laufzeit, weil jeder Lauf alle 2,5 Jahre neu rechnet – hier setzt Folgeprojekt FP-1 an.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73736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Hochrechnung Dauerbetrieb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≈ 15 €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39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je Monat · 0,50 € je Tageslauf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148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206240"/>
            <a:ext cx="3017520" cy="19202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Jeder Lauf rechnet heute alle 2,5 Jahre neu. Nur neue Tage zu verarbeiten senkt Laufzeit und Kosten deutlich.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KERNBEFUND 2 · HONIGERTRAG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Ein Standort bringt dreimal so viel Honig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Saison 2017 – einzige Saison mit vollständigen Daten an beiden Standorten (Untergrenze)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731520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1_honig_sa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2869289"/>
            <a:ext cx="7132320" cy="2216701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8229600" y="173736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Saisonertrag 2017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224028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74 : 24 kg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063239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Schwartau : Würzburg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41148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4251960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Volksgröße (Gewicht Median)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461772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60 : 54 kg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5440680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Würzburg = kleineres Volk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KERNBEFUND 3 · FLUGVERHALTEN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Sonne und trockenes Wetter bestimmen den Bienenflug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Flugbewegungen pro Minute nach Wetter der Stunde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8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731520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8229600" y="173736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ECEF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1874519"/>
            <a:ext cx="320040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Flug bei Regen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240280"/>
            <a:ext cx="3200400" cy="8229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1E2761"/>
                </a:solidFill>
                <a:latin typeface="Cambria"/>
              </a:rPr>
              <a:t>−58 / −69 %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3063239"/>
            <a:ext cx="320040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5A6472"/>
                </a:solidFill>
                <a:latin typeface="Calibri"/>
              </a:rPr>
              <a:t>Schwartau / Würzburg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411480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12480" y="4206240"/>
            <a:ext cx="3017520" cy="1920239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Empfehlung: Wetter als Warnsignal ins Dashboard; Einzelwirkungen mit einem Modell trennen.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WEITERE ERKENNTNISSE AUS DEN NOTEBOOKS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Beide Standorte zeigen dieselben Muster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Würzburg ist ein kleineres Volk – Honigtage sind an beiden Standorten sonnig und warm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9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48640" y="1737360"/>
          <a:ext cx="5852160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1737360"/>
                <a:gridCol w="1737360"/>
              </a:tblGrid>
              <a:tr h="54864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Kennzahl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Schwartau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Würzburg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Gewicht (Median)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60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53,7 kg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Verbrauch ohne Flug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≈ 259 g/Tag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≈ 156 g/Tag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Honig je Einflug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6,3 mg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7,8 mg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Gewinnschwelle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≈ 41.500 Einflüge/Tag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≈ 20.000 Einflüge/Tag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Tage mit hoher Produktion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19 %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16 %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Flug bei Regen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−58 %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−69 %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675120" y="173736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12280" y="1847088"/>
            <a:ext cx="21031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Honigtage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sonnig, warm, regenfrei – an beiden Standorten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89720" y="173736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26880" y="1847088"/>
            <a:ext cx="21031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Temperatur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kein Flug unter 5 °C, Maximum bei 20–30 °C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675120" y="370332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3813048"/>
            <a:ext cx="21031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Luftfeuchte, Strahlung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trockene Luft und mehr Sonne steigern den Flug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89720" y="3703320"/>
            <a:ext cx="2377440" cy="1828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326880" y="3813048"/>
            <a:ext cx="2103120" cy="16459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Wind, Luftdruck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unter gleichen Bedingungen kein messbarer Einfluss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5760720"/>
            <a:ext cx="493776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Zusammenhänge, keine Ursachen – Einzelwirkungen trennt erst ein Modell (FP-3).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ZUSATZ- UND BONUSAUFGABEN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Parquet braucht nur ein Sechstel des Platzes von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Bonusaufgabe Speicherformate (Unterricht 30.09.2026) und weitere Ergänzungen über den Kursauftrag hinaus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548640" y="1737360"/>
          <a:ext cx="5669280" cy="44805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6492240" y="173736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810512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Zweiter Standort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Würzburg über Konfiguration – Beleg der Übertragbarkeit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288036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953512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Wetter-API und Sonnenstand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Bright Sky (DWD) und Sonnenstand nach NOAA statt fester Uhrzeiten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92240" y="402336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4096512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Standortvergleich Honig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Saisonertrag beider Standorte (Notebook 06)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5166360"/>
            <a:ext cx="51206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5239512"/>
            <a:ext cx="4846320" cy="9144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Rollen und Rechte (RBAC/IAM, Bonus)</a:t>
            </a:r>
          </a:p>
          <a:p>
            <a:pPr algn="l">
              <a:spcAft>
                <a:spcPts val="600"/>
              </a:spcAft>
            </a:pPr>
            <a:r>
              <a:rPr sz="1300" b="0">
                <a:solidFill>
                  <a:srgbClr val="222222"/>
                </a:solidFill>
                <a:latin typeface="Calibri"/>
              </a:rPr>
              <a:t>Berechtigungsmatrix für Menschen, Dienste und Agenten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ERGEBNIS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Entscheidungsgrundlage für die Geschäftsleitung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11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554480"/>
          <a:ext cx="110642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223760"/>
              </a:tblGrid>
              <a:tr h="731520"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Frage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1">
                          <a:solidFill>
                            <a:srgbClr val="FFFFFF"/>
                          </a:solidFill>
                          <a:latin typeface="Calibri"/>
                        </a:rPr>
                        <a:t>Ergebnis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Funktioniert die automatische Verarbeitung?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Ja. Vier Stufen, täglicher Zeitplan, E-Mail bei Fehlern; Gegenprobe Azure = lokal.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Ist sie übertragbar?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Ja. Zweiter Standort nur über drei Konfigurationstabellen, kein neuer Code.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Was kostet sie?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Gemessen ca. 0,50 € je Tageslauf (2 Standorte) → ca. 15 €/Monat; inkrementell deutlich weniger.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Was sagen die Daten fachlich?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Saisonertrag 2017: 74 kg zu 24 kg; Regen −58 %, volle Sonne 3–5 × mehr Flug.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Was fehlt noch für den Betrieb?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222222"/>
                          </a:solidFill>
                          <a:latin typeface="Calibri"/>
                        </a:rPr>
                        <a:t>Nur neue Daten verarbeiten, Eingangsprüfung, Rollen und Rechte, Versionsverwaltung.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HANDLUNGSEMPFEHLUNGEN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Sechs Empfehlungen an die Geschäftsleitung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4206240"/>
                <a:gridCol w="4023360"/>
                <a:gridCol w="2103120"/>
              </a:tblGrid>
              <a:tr h="68580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Nr.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Empfehlung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Begründung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Zuständig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Plattform als Standard für weitere Datenquellen nutzen (Pilot)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Zweiter Standort kam ohne neuen Code hinzu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Geschäftsleitung, IT &amp; Security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HE-2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Nur neue Daten verarbeiten (inkrementell)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Heute rechnet jeder Lauf alle 2,5 Jahre neu: 13 Min., ≈ 15 €/Monat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IT &amp; Security (Data Engineer)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Eingang absichern: Dateinamen prüfen, Duplikate regeln, nur neue Dateien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Fehlerhafte Lieferungen sollen nicht unbemerkt durchlaufen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IT &amp; Security (Data Engineer)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HE-4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Starten, sobald Daten ankommen (ereignisbasiert), Wetter täglich eigene Pipeline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Keine leeren Läufe, aktuelle Kennzahlen am Morgen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IT &amp; Security (Data Engineer)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Gold als Sternschema für Berichte (Power BI)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Kennzahlen und Merkmale (Standort, Datum) getrennt – einfache Auswertung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Data Analyst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HE-6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Rechte nach Rollen (RBAC) und Versionsverwaltung (Git)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Heute eine Person mit allen Rechten, Änderungen per Import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Calibri"/>
                        </a:rPr>
                        <a:t>IT &amp; Security, Informationssicherheit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WEITERE SCHRITTE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Was als Nächstes geplant ist – und was offen bleibt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FP-1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Betrieb und Automatisierung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IT &amp; Security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64992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02152" y="16459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FP-2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Dashboard und Warnungen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Data Analyst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81344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18504" y="16459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FP-3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Machine Learning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Data Scientist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97696" y="15544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34856" y="16459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FP-5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Berechtigungskonzept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IT, Informationssicherheit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2461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FP-6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Stammdaten-Standard Orte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QM, IT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64992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02152" y="3246120"/>
            <a:ext cx="2377440" cy="12344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A4680"/>
                </a:solidFill>
                <a:latin typeface="Calibri"/>
              </a:rPr>
              <a:t>FP-7</a:t>
            </a:r>
          </a:p>
          <a:p>
            <a:pPr algn="l">
              <a:spcAft>
                <a:spcPts val="600"/>
              </a:spcAft>
            </a:pPr>
            <a:r>
              <a:rPr sz="1500" b="1">
                <a:solidFill>
                  <a:srgbClr val="1E2761"/>
                </a:solidFill>
                <a:latin typeface="Calibri"/>
              </a:rPr>
              <a:t>Prozessdokumentation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5A6472"/>
                </a:solidFill>
                <a:latin typeface="Calibri"/>
              </a:rPr>
              <a:t>QM (QS-Agent)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97696" y="3154680"/>
            <a:ext cx="2606040" cy="137160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80576" y="3246120"/>
            <a:ext cx="2240280" cy="11887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Entscheidung erbeten:
1. Pilot weitere Datenquelle
2. Start FP-1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Folgeprojekte gehen an die zuständigen Abteilungen; das Dashboard (FP-2) wird als eigenes Projekt umgesetzt.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ANHANG A · ZUSATZMATERIAL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Alle Unterlagen des Projekts im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14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1463040"/>
          <a:ext cx="110642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5120640"/>
                <a:gridCol w="2286000"/>
              </a:tblGrid>
              <a:tr h="50292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Material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Inhalt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  <a:latin typeface="Calibri"/>
                        </a:rPr>
                        <a:t>Ordner</a:t>
                      </a:r>
                    </a:p>
                  </a:txBody>
                  <a:tcPr anchor="ctr">
                    <a:solidFill>
                      <a:srgbClr val="1E276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Pflichtenheft PH-ITS-002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alle Schritte, Befunde und Ergebnisse, für Einsteiger erklärt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01_projektmanagement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Projektplan PP-ITS-002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Soll-Konzept, Folgeprojekte, Handlungsempfehlungen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01_projektmanagement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Brainstorming BS-ITS-002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Ideen, Fragen und Entscheidungen mit Herkunft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01_projektmanagement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Notebooks 00–06, Zusatz Z1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Steuerung, Bereinigung, Qualität, Wetter, Gold, Analyse, Standortvergleich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03_notebooks_ITS-Data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Grafiken (29 Bilder)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je Standort gleiche Auswertungen, Projektgrafiken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04_images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Anleitung AN-ITS-001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Schritt für Schritt mit Bildern: Azure, Notebooks, Automatisierung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05_dokumentation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Prozesse (BPMN)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Einrichtung (Ebene 2–3), täglicher Lauf, RACI, Berechtigungsmatrix, Prüfablauf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07_prozesse_QM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Präsentation PS-ITS-001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diese Präsentation (PDF, PowerPoint)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222222"/>
                          </a:solidFill>
                          <a:latin typeface="Calibri"/>
                        </a:rPr>
                        <a:t>05_dokumentation</a:t>
                      </a:r>
                    </a:p>
                  </a:txBody>
                  <a:tcPr anchor="ctr">
                    <a:solidFill>
                      <a:srgbClr val="ECEFF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ANHANG B · GRAFIKEN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Weitere Auswertungen aus den Notebooks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Beispiel Bad Schwartau – dieselben Grafiken für Würzburg in 04_images/wurzburg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69164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1_gewicht_verla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" y="1843135"/>
            <a:ext cx="2505456" cy="90401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2852928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Gewichtsverlauf und Ernte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64992" y="169164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f2_flugaktivitaet_mona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144" y="1844083"/>
            <a:ext cx="2505456" cy="9021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410712" y="2852928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Flugsaison Mai–August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9164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f3_temperatur_einflu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54496" y="1844083"/>
            <a:ext cx="2505456" cy="90212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227064" y="2852928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Temperatur und Einflug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691640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d2_sensitivitaet_temperatu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1952535"/>
            <a:ext cx="2505456" cy="68521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9043416" y="2852928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Temperatur: meist Rauschen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3264408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n3_wetter_sonn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3515582"/>
            <a:ext cx="2505456" cy="7046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94360" y="4425696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Wetter und Sonnenstand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364992" y="3264408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a2_flug_tageszei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38144" y="3467248"/>
            <a:ext cx="2505456" cy="801326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3410712" y="4425696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90 % der Flüge bei Tag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81344" y="3264408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a3_a5_flug_temperatu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54496" y="3420890"/>
            <a:ext cx="2505456" cy="894043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227064" y="4425696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Maximum bei 20–30 °C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97696" y="3264408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a7_flug_feuch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070848" y="3502620"/>
            <a:ext cx="2505456" cy="730583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043416" y="4425696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trockene Luft = mehr Flug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4837176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a8_flug_strahlung_hitz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0389" y="4892040"/>
            <a:ext cx="2168260" cy="109728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94360" y="5998464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Strahlung steigert den Flug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364992" y="4837176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a9_a10_flug_wind_luftdru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38144" y="5076612"/>
            <a:ext cx="2505456" cy="728135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3410712" y="5998464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Wind, Luftdruck ohne Einfluss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181344" y="4837176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h1_honig_produktio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54496" y="5064062"/>
            <a:ext cx="2505456" cy="753235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27064" y="5998464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Honigtage sonnig und regenfrei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997696" y="4837176"/>
            <a:ext cx="2651760" cy="14630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2" name="Picture 41" descr="z1_speicherformat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070848" y="4984504"/>
            <a:ext cx="2505456" cy="912351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9043416" y="5998464"/>
            <a:ext cx="256032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600"/>
              </a:spcAft>
            </a:pPr>
            <a:r>
              <a:rPr sz="1100" b="1">
                <a:solidFill>
                  <a:srgbClr val="1E2761"/>
                </a:solidFill>
                <a:latin typeface="Calibri"/>
              </a:rPr>
              <a:t>Parquet vs. CSV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515600" cy="32004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1">
                <a:solidFill>
                  <a:srgbClr val="3A4680"/>
                </a:solidFill>
                <a:latin typeface="Calibri"/>
              </a:rPr>
              <a:t>ANHANG C · PROZESS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110642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1E2761"/>
                </a:solidFill>
                <a:latin typeface="Cambria"/>
              </a:rPr>
              <a:t>Täglicher Lauf als BPMN-Prozess mit Rollen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5A6472"/>
                </a:solidFill>
                <a:latin typeface="Calibri"/>
              </a:rPr>
              <a:t>Was jede Nacht passiert und wer bei Fehlern informiert wird (BPMN-ITS-001)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Bee Haven Datenplattform  |  IT &amp; Security – Projektleitung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0" y="6400800"/>
            <a:ext cx="548640" cy="274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5A6472"/>
                </a:solidFill>
                <a:latin typeface="Calibri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37360"/>
            <a:ext cx="1106424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BPMN-ITS-001-2026_taeglicher-la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191" y="1828800"/>
            <a:ext cx="10149136" cy="4297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